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entury Gothic Paneuropean Bold" charset="1" panose="020B0702020202020204"/>
      <p:regular r:id="rId18"/>
    </p:embeddedFont>
    <p:embeddedFont>
      <p:font typeface="Century Gothic Paneuropean" charset="1" panose="020B0502020202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057" y="2735701"/>
            <a:ext cx="15899709" cy="206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1"/>
              </a:lnSpc>
            </a:pPr>
            <a:r>
              <a:rPr lang="en-US" b="true" sz="59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REAL-TIME FACE RECOGNITION FOR SMART ATTENDANCE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64493" y="6011091"/>
            <a:ext cx="9908838" cy="447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3"/>
              </a:lnSpc>
            </a:pPr>
            <a:r>
              <a:rPr lang="en-US" sz="405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</a:t>
            </a:r>
          </a:p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s.harini</a:t>
            </a:r>
          </a:p>
          <a:p>
            <a:pPr algn="ctr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g.deeksha</a:t>
            </a:r>
          </a:p>
          <a:p>
            <a:pPr algn="ctr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k.s.abhishalni</a:t>
            </a:r>
          </a:p>
          <a:p>
            <a:pPr algn="ctr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A.jenisha sherine</a:t>
            </a:r>
          </a:p>
          <a:p>
            <a:pPr algn="ctr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t.k.skousiga</a:t>
            </a:r>
          </a:p>
          <a:p>
            <a:pPr algn="ctr">
              <a:lnSpc>
                <a:spcPts val="657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693058"/>
            <a:ext cx="8537178" cy="139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9057" y="4074595"/>
            <a:ext cx="15278580" cy="295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79700" indent="-439850" lvl="1">
              <a:lnSpc>
                <a:spcPts val="5704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Face recognition → identifies people from facial images.</a:t>
            </a:r>
          </a:p>
          <a:p>
            <a:pPr algn="ctr" marL="879700" indent="-439850" lvl="1">
              <a:lnSpc>
                <a:spcPts val="5704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Deep Learning (CNN) improves speed &amp; accuracy.</a:t>
            </a:r>
          </a:p>
          <a:p>
            <a:pPr algn="ctr" marL="988564" indent="-494282" lvl="1">
              <a:lnSpc>
                <a:spcPts val="6410"/>
              </a:lnSpc>
              <a:buFont typeface="Arial"/>
              <a:buChar char="•"/>
            </a:pPr>
            <a:r>
              <a:rPr lang="en-US" sz="457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Used for a surveillance, and authentication.</a:t>
            </a:r>
          </a:p>
          <a:p>
            <a:pPr algn="ctr">
              <a:lnSpc>
                <a:spcPts val="570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690069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6261" y="3439624"/>
            <a:ext cx="17563397" cy="358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01072" indent="-550536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Implement real-time face detection &amp; recognition.</a:t>
            </a:r>
          </a:p>
          <a:p>
            <a:pPr algn="ctr" marL="1101072" indent="-550536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 CNN models for accuracy.</a:t>
            </a:r>
          </a:p>
          <a:p>
            <a:pPr algn="ctr" marL="1101072" indent="-550536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Automate attendance marking through recognition.</a:t>
            </a:r>
          </a:p>
          <a:p>
            <a:pPr algn="ctr">
              <a:lnSpc>
                <a:spcPts val="71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193275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DATASET DETAILS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3751004"/>
            <a:ext cx="15233813" cy="503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8914" indent="-514457" lvl="1">
              <a:lnSpc>
                <a:spcPts val="6671"/>
              </a:lnSpc>
              <a:buFont typeface="Arial"/>
              <a:buChar char="•"/>
            </a:pPr>
            <a:r>
              <a:rPr lang="en-US" sz="476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Dataset: Labeled Faces in the Wild (LFW)</a:t>
            </a:r>
          </a:p>
          <a:p>
            <a:pPr algn="l" marL="1028914" indent="-514457" lvl="1">
              <a:lnSpc>
                <a:spcPts val="6671"/>
              </a:lnSpc>
              <a:buFont typeface="Arial"/>
              <a:buChar char="•"/>
            </a:pPr>
            <a:r>
              <a:rPr lang="en-US" sz="476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Total Images: 13 000 +</a:t>
            </a:r>
          </a:p>
          <a:p>
            <a:pPr algn="l" marL="1028914" indent="-514457" lvl="1">
              <a:lnSpc>
                <a:spcPts val="6671"/>
              </a:lnSpc>
              <a:buFont typeface="Arial"/>
              <a:buChar char="•"/>
            </a:pPr>
            <a:r>
              <a:rPr lang="en-US" sz="476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Unique Persons: 1 680 +</a:t>
            </a:r>
          </a:p>
          <a:p>
            <a:pPr algn="l" marL="1028914" indent="-514457" lvl="1">
              <a:lnSpc>
                <a:spcPts val="6671"/>
              </a:lnSpc>
              <a:buFont typeface="Arial"/>
              <a:buChar char="•"/>
            </a:pPr>
            <a:r>
              <a:rPr lang="en-US" sz="476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Image Size: 62 × 47 px (resized)</a:t>
            </a:r>
          </a:p>
          <a:p>
            <a:pPr algn="l" marL="1028914" indent="-514457" lvl="1">
              <a:lnSpc>
                <a:spcPts val="6671"/>
              </a:lnSpc>
              <a:buFont typeface="Arial"/>
              <a:buChar char="•"/>
            </a:pPr>
            <a:r>
              <a:rPr lang="en-US" sz="476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Loaded directly from Scikit-learn / UMass source.</a:t>
            </a:r>
          </a:p>
          <a:p>
            <a:pPr algn="l">
              <a:lnSpc>
                <a:spcPts val="667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87946" y="2539908"/>
            <a:ext cx="10764885" cy="6076902"/>
          </a:xfrm>
          <a:custGeom>
            <a:avLst/>
            <a:gdLst/>
            <a:ahLst/>
            <a:cxnLst/>
            <a:rect r="r" b="b" t="t" l="l"/>
            <a:pathLst>
              <a:path h="6076902" w="10764885">
                <a:moveTo>
                  <a:pt x="0" y="0"/>
                </a:moveTo>
                <a:lnTo>
                  <a:pt x="10764885" y="0"/>
                </a:lnTo>
                <a:lnTo>
                  <a:pt x="10764885" y="6076902"/>
                </a:lnTo>
                <a:lnTo>
                  <a:pt x="0" y="607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87" r="0" b="-1233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5411" y="571935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WORK 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193275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 SPLITTING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88343" y="3657408"/>
            <a:ext cx="17311315" cy="341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54189" indent="-427094" lvl="1">
              <a:lnSpc>
                <a:spcPts val="5538"/>
              </a:lnSpc>
              <a:buFont typeface="Arial"/>
              <a:buChar char="•"/>
            </a:pPr>
            <a:r>
              <a:rPr lang="en-US" sz="39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dataset is divided into two parts — Training and Testing sets.</a:t>
            </a:r>
          </a:p>
          <a:p>
            <a:pPr algn="ctr" marL="854189" indent="-427094" lvl="1">
              <a:lnSpc>
                <a:spcPts val="5538"/>
              </a:lnSpc>
              <a:buFont typeface="Arial"/>
              <a:buChar char="•"/>
            </a:pPr>
            <a:r>
              <a:rPr lang="en-US" sz="39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80% of data is used for training to help the model learn facial features.</a:t>
            </a:r>
          </a:p>
          <a:p>
            <a:pPr algn="ctr" marL="854189" indent="-427094" lvl="1">
              <a:lnSpc>
                <a:spcPts val="5538"/>
              </a:lnSpc>
              <a:buFont typeface="Arial"/>
              <a:buChar char="•"/>
            </a:pPr>
            <a:r>
              <a:rPr lang="en-US" sz="39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20% of data is used for testing to validate recognition accuracy.</a:t>
            </a:r>
          </a:p>
          <a:p>
            <a:pPr algn="ctr" marL="854189" indent="-427094" lvl="1">
              <a:lnSpc>
                <a:spcPts val="5538"/>
              </a:lnSpc>
              <a:buFont typeface="Arial"/>
              <a:buChar char="•"/>
            </a:pPr>
            <a:r>
              <a:rPr lang="en-US" sz="39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split ensures the model performs well on new, unseen faces.</a:t>
            </a:r>
          </a:p>
          <a:p>
            <a:pPr algn="ctr">
              <a:lnSpc>
                <a:spcPts val="51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5842" y="1193275"/>
            <a:ext cx="12936317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USED: VGG-FACE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149754"/>
            <a:ext cx="16155352" cy="5997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48479" indent="-524239" lvl="1">
              <a:lnSpc>
                <a:spcPts val="679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Deep CNN pre-trained on 2.6 M face images.</a:t>
            </a:r>
          </a:p>
          <a:p>
            <a:pPr algn="ctr" marL="1048479" indent="-524239" lvl="1">
              <a:lnSpc>
                <a:spcPts val="679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Extracts detailed facial embeddings.</a:t>
            </a:r>
          </a:p>
          <a:p>
            <a:pPr algn="ctr" marL="1048479" indent="-524239" lvl="1">
              <a:lnSpc>
                <a:spcPts val="679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Chosen because of high accuracy (≈ 97 %) and reliability.</a:t>
            </a:r>
          </a:p>
          <a:p>
            <a:pPr algn="ctr" marL="1048479" indent="-524239" lvl="1">
              <a:lnSpc>
                <a:spcPts val="679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Performs better than Facenet, OpenFace, DeepID models.</a:t>
            </a:r>
          </a:p>
          <a:p>
            <a:pPr algn="ctr">
              <a:lnSpc>
                <a:spcPts val="6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3382" y="876300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PROGRAM FLOW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32664"/>
            <a:ext cx="17259300" cy="543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8639" indent="-479319" lvl="1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Load LFW dataset for training and testing.</a:t>
            </a:r>
          </a:p>
          <a:p>
            <a:pPr algn="l" marL="958639" indent="-479319" lvl="1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Preprocess images – resize, normalize, align faces.</a:t>
            </a:r>
          </a:p>
          <a:p>
            <a:pPr algn="l" marL="958639" indent="-479319" lvl="1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Extract facial features using VGG-Face model.</a:t>
            </a:r>
          </a:p>
          <a:p>
            <a:pPr algn="l" marL="958639" indent="-479319" lvl="1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 embeddings to find matching faces.</a:t>
            </a:r>
          </a:p>
          <a:p>
            <a:pPr algn="l" marL="958639" indent="-479319" lvl="1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Predict and display Actual vs Predicted .</a:t>
            </a:r>
          </a:p>
          <a:p>
            <a:pPr algn="l" marL="958639" indent="-479319" lvl="1">
              <a:lnSpc>
                <a:spcPts val="6216"/>
              </a:lnSpc>
              <a:buFont typeface="Arial"/>
              <a:buChar char="•"/>
            </a:pPr>
            <a:r>
              <a:rPr lang="en-US" sz="44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Mark attendance .</a:t>
            </a:r>
          </a:p>
          <a:p>
            <a:pPr algn="l">
              <a:lnSpc>
                <a:spcPts val="621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3382" y="876300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INPUT &amp; OUPUT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3008973"/>
            <a:ext cx="16230600" cy="367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341" indent="-434170" lvl="1">
              <a:lnSpc>
                <a:spcPts val="5630"/>
              </a:lnSpc>
              <a:buFont typeface="Arial"/>
              <a:buChar char="•"/>
            </a:pPr>
            <a:r>
              <a:rPr lang="en-US" sz="40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Input : Face image  (used from database)</a:t>
            </a:r>
          </a:p>
          <a:p>
            <a:pPr algn="l" marL="868341" indent="-434170" lvl="1">
              <a:lnSpc>
                <a:spcPts val="5630"/>
              </a:lnSpc>
              <a:buFont typeface="Arial"/>
              <a:buChar char="•"/>
            </a:pPr>
            <a:r>
              <a:rPr lang="en-US" sz="40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Output : Recognized name + confidence score + attendance marked</a:t>
            </a:r>
          </a:p>
          <a:p>
            <a:pPr algn="l" marL="954700" indent="-477350" lvl="1">
              <a:lnSpc>
                <a:spcPts val="6190"/>
              </a:lnSpc>
              <a:buFont typeface="Arial"/>
              <a:buChar char="•"/>
            </a:pPr>
            <a:r>
              <a:rPr lang="en-US" sz="44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Example : “Recognized → Barack Obama (98.5 %) – Present”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3382" y="876300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8562" y="2980398"/>
            <a:ext cx="17261096" cy="411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64060" indent="-582030" lvl="1">
              <a:lnSpc>
                <a:spcPts val="7548"/>
              </a:lnSpc>
              <a:buFont typeface="Arial"/>
              <a:buChar char="•"/>
            </a:pPr>
            <a:r>
              <a:rPr lang="en-US" sz="539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Accuracy: ~97% using VGG-Face model.</a:t>
            </a:r>
          </a:p>
          <a:p>
            <a:pPr algn="ctr" marL="974011" indent="-487006" lvl="1">
              <a:lnSpc>
                <a:spcPts val="6315"/>
              </a:lnSpc>
              <a:buFont typeface="Arial"/>
              <a:buChar char="•"/>
            </a:pPr>
            <a:r>
              <a:rPr lang="en-US" sz="451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Faces recognized under varied lighting and pose.</a:t>
            </a:r>
          </a:p>
          <a:p>
            <a:pPr algn="ctr" marL="974011" indent="-487006" lvl="1">
              <a:lnSpc>
                <a:spcPts val="6315"/>
              </a:lnSpc>
              <a:buFont typeface="Arial"/>
              <a:buChar char="•"/>
            </a:pPr>
            <a:r>
              <a:rPr lang="en-US" sz="451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Performed better than Facenet and OpenFace.</a:t>
            </a:r>
          </a:p>
          <a:p>
            <a:pPr algn="ctr" marL="974011" indent="-487006" lvl="1">
              <a:lnSpc>
                <a:spcPts val="6315"/>
              </a:lnSpc>
              <a:buFont typeface="Arial"/>
              <a:buChar char="•"/>
            </a:pPr>
            <a:r>
              <a:rPr lang="en-US" sz="451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Reliable and consistent for real-time recognition.</a:t>
            </a:r>
          </a:p>
          <a:p>
            <a:pPr algn="ctr" marL="974011" indent="-487006" lvl="1">
              <a:lnSpc>
                <a:spcPts val="6315"/>
              </a:lnSpc>
              <a:buFont typeface="Arial"/>
              <a:buChar char="•"/>
            </a:pPr>
            <a:r>
              <a:rPr lang="en-US" sz="451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Attendance successfully recorded for recognized users.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3382" y="876300"/>
            <a:ext cx="8537178" cy="139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8343" y="2989923"/>
            <a:ext cx="18186704" cy="535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7162" indent="-553581" lvl="1">
              <a:lnSpc>
                <a:spcPts val="7179"/>
              </a:lnSpc>
              <a:buFont typeface="Arial"/>
              <a:buChar char="•"/>
            </a:pPr>
            <a:r>
              <a:rPr lang="en-US" sz="51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Deep Learning offers accurate and fast face recognition.</a:t>
            </a:r>
          </a:p>
          <a:p>
            <a:pPr algn="l" marL="1107162" indent="-553581" lvl="1">
              <a:lnSpc>
                <a:spcPts val="7179"/>
              </a:lnSpc>
              <a:buFont typeface="Arial"/>
              <a:buChar char="•"/>
            </a:pPr>
            <a:r>
              <a:rPr lang="en-US" sz="51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VGG-Face gave highest accuracy for our dataset.</a:t>
            </a:r>
          </a:p>
          <a:p>
            <a:pPr algn="l" marL="1107162" indent="-553581" lvl="1">
              <a:lnSpc>
                <a:spcPts val="7179"/>
              </a:lnSpc>
              <a:buFont typeface="Arial"/>
              <a:buChar char="•"/>
            </a:pPr>
            <a:r>
              <a:rPr lang="en-US" sz="51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Effective for real-time attendance applications.</a:t>
            </a:r>
          </a:p>
          <a:p>
            <a:pPr algn="l" marL="1107162" indent="-553581" lvl="1">
              <a:lnSpc>
                <a:spcPts val="7179"/>
              </a:lnSpc>
              <a:buFont typeface="Arial"/>
              <a:buChar char="•"/>
            </a:pPr>
            <a:r>
              <a:rPr lang="en-US" sz="51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Reliable and efficient Deep Learning approach.</a:t>
            </a:r>
          </a:p>
          <a:p>
            <a:pPr algn="l">
              <a:lnSpc>
                <a:spcPts val="717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3924953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DAG196-ySJk</dc:identifier>
  <dcterms:modified xsi:type="dcterms:W3CDTF">2011-08-01T06:04:30Z</dcterms:modified>
  <cp:revision>1</cp:revision>
  <dc:title>real-Time Face Recognition For smart attendance system</dc:title>
</cp:coreProperties>
</file>